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15"/>
            <a:ext cx="12192000" cy="48158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5079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0"/>
                </a:moveTo>
                <a:lnTo>
                  <a:pt x="0" y="0"/>
                </a:lnTo>
                <a:lnTo>
                  <a:pt x="0" y="502920"/>
                </a:lnTo>
                <a:lnTo>
                  <a:pt x="12192000" y="50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0232" y="125095"/>
            <a:ext cx="7460233" cy="992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557729"/>
            <a:ext cx="9227185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62271" y="6445817"/>
            <a:ext cx="257492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1188720"/>
            <a:ext cx="7498079" cy="822960"/>
          </a:xfrm>
          <a:prstGeom prst="rect">
            <a:avLst/>
          </a:prstGeom>
        </p:spPr>
        <p:txBody>
          <a:bodyPr vert="horz" wrap="square" lIns="54864" tIns="36576" rIns="54864" bIns="36576" rtlCol="0" anchor="ctr"/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Times New Roman"/>
              </a:rPr>
              <a:t>Smart Parking Management 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4400" y="182880"/>
            <a:ext cx="7589520" cy="82296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3991610" algn="l"/>
              </a:tabLst>
            </a:pPr>
            <a:r>
              <a:rPr sz="2800" b="1">
                <a:solidFill>
                  <a:srgbClr val="1F487C"/>
                </a:solidFill>
              </a:rPr>
              <a:t>OPERATING SYSTEMS PBL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548640" y="2240280"/>
            <a:ext cx="7589520" cy="3840480"/>
          </a:xfrm>
          <a:prstGeom prst="rect">
            <a:avLst/>
          </a:prstGeom>
        </p:spPr>
        <p:txBody>
          <a:bodyPr vert="horz" wrap="square" lIns="54864" tIns="36576" rIns="54864" bIns="36576" rtlCol="0" anchor="t"/>
          <a:lstStyle/>
          <a:p>
            <a:pPr marL="228600" indent="-228600" algn="l">
              <a:lnSpc>
                <a:spcPct val="100000"/>
              </a:lnSpc>
              <a:spcBef>
                <a:spcPts val="100"/>
              </a:spcBef>
              <a:spcAft>
                <a:spcPts val="1600"/>
              </a:spcAft>
              <a:buFont typeface="Arial MT"/>
              <a:buChar char="•"/>
              <a:tabLst>
                <a:tab pos="297815" algn="l"/>
              </a:tabLst>
            </a:pPr>
            <a:r>
              <a:rPr sz="2000" b="1" i="0" dirty="0">
                <a:solidFill>
                  <a:srgbClr val="1F487C"/>
                </a:solidFill>
                <a:latin typeface="Arial"/>
              </a:rPr>
              <a:t>Subject: 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Operating Systems (CCSE0303A)</a:t>
            </a:r>
            <a:endParaRPr sz="2400" dirty="0">
              <a:latin typeface="Arial"/>
              <a:cs typeface="Arial"/>
            </a:endParaRP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2000" b="1" i="0" dirty="0">
                <a:solidFill>
                  <a:srgbClr val="1F487C"/>
                </a:solidFill>
                <a:latin typeface="Arial"/>
              </a:rPr>
              <a:t>Institution: 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NIET Greater Noida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2000" b="1" i="0" dirty="0">
                <a:solidFill>
                  <a:srgbClr val="1F487C"/>
                </a:solidFill>
                <a:latin typeface="Arial"/>
              </a:rPr>
              <a:t>Department: 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CSE — Artificial Intelligence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2000" b="1" i="0" dirty="0">
                <a:solidFill>
                  <a:srgbClr val="1F487C"/>
                </a:solidFill>
                <a:latin typeface="Arial"/>
              </a:rPr>
              <a:t>Group: 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7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2000" b="1" i="0" dirty="0">
                <a:solidFill>
                  <a:srgbClr val="1F487C"/>
                </a:solidFill>
                <a:latin typeface="Arial"/>
              </a:rPr>
              <a:t>Team: 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Samar Singh · Aditi Singh · Chhavi </a:t>
            </a:r>
            <a:r>
              <a:rPr sz="2000" b="0" i="0" dirty="0" err="1">
                <a:solidFill>
                  <a:srgbClr val="1A1A1A"/>
                </a:solidFill>
                <a:latin typeface="Arial"/>
              </a:rPr>
              <a:t>Attri</a:t>
            </a:r>
            <a:endParaRPr sz="2000" b="0" i="0" dirty="0">
              <a:solidFill>
                <a:srgbClr val="1A1A1A"/>
              </a:solidFill>
              <a:latin typeface="Arial"/>
            </a:endParaRP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2000" b="1" i="0" dirty="0">
                <a:solidFill>
                  <a:srgbClr val="1F487C"/>
                </a:solidFill>
                <a:latin typeface="Arial"/>
              </a:rPr>
              <a:t>Faculty Mentor: 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Dr. Varsha </a:t>
            </a:r>
            <a:r>
              <a:rPr sz="2000" b="0" i="0" dirty="0" err="1">
                <a:solidFill>
                  <a:srgbClr val="1A1A1A"/>
                </a:solidFill>
                <a:latin typeface="Arial"/>
              </a:rPr>
              <a:t>Jotwani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sz="2000" b="0" i="0" dirty="0">
                <a:solidFill>
                  <a:srgbClr val="1A1A1A"/>
                </a:solidFill>
                <a:latin typeface="Arial"/>
              </a:rPr>
              <a:t>(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Associate Professor</a:t>
            </a:r>
            <a:r>
              <a:rPr lang="en-US" sz="2000" b="0" i="0" dirty="0">
                <a:solidFill>
                  <a:srgbClr val="1A1A1A"/>
                </a:solidFill>
                <a:latin typeface="Arial"/>
              </a:rPr>
              <a:t>)</a:t>
            </a:r>
            <a:endParaRPr sz="2000" b="0" i="0" dirty="0">
              <a:solidFill>
                <a:srgbClr val="1A1A1A"/>
              </a:solidFill>
              <a:latin typeface="Arial"/>
            </a:endParaRP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lang="en-US" sz="2000" b="1" i="0" dirty="0">
                <a:solidFill>
                  <a:srgbClr val="1F487C"/>
                </a:solidFill>
                <a:latin typeface="Arial"/>
              </a:rPr>
              <a:t>SGD GOAL</a:t>
            </a:r>
            <a:r>
              <a:rPr sz="2000" b="1" i="0" dirty="0">
                <a:solidFill>
                  <a:srgbClr val="1F487C"/>
                </a:solidFill>
                <a:latin typeface="Arial"/>
              </a:rPr>
              <a:t>: </a:t>
            </a:r>
            <a:r>
              <a:rPr sz="2000" b="0" i="0" dirty="0">
                <a:solidFill>
                  <a:srgbClr val="1A1A1A"/>
                </a:solidFill>
                <a:latin typeface="Arial"/>
              </a:rPr>
              <a:t>·SDG 11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6147" y="138684"/>
            <a:ext cx="2625852" cy="10195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2240280"/>
            <a:ext cx="329184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Parking  →  OS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74320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Vehicle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893808" y="3017520"/>
            <a:ext cx="329184" cy="0"/>
          </a:xfrm>
          <a:prstGeom prst="line">
            <a:avLst/>
          </a:prstGeom>
          <a:ln w="25400">
            <a:solidFill>
              <a:srgbClr val="006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241280" y="274320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47472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Parking slot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93808" y="3749039"/>
            <a:ext cx="329184" cy="0"/>
          </a:xfrm>
          <a:prstGeom prst="line">
            <a:avLst/>
          </a:prstGeom>
          <a:ln w="25400">
            <a:solidFill>
              <a:srgbClr val="006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241280" y="347472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Shared resource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20624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Ticket + record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93808" y="4480559"/>
            <a:ext cx="329184" cy="0"/>
          </a:xfrm>
          <a:prstGeom prst="line">
            <a:avLst/>
          </a:prstGeom>
          <a:ln w="25400">
            <a:solidFill>
              <a:srgbClr val="006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41280" y="420624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PCB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93776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Slot lock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93808" y="5212080"/>
            <a:ext cx="329184" cy="0"/>
          </a:xfrm>
          <a:prstGeom prst="line">
            <a:avLst/>
          </a:prstGeom>
          <a:ln w="25400">
            <a:solidFill>
              <a:srgbClr val="006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241280" y="493776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Mutex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566928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Free-slot counter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93808" y="5943600"/>
            <a:ext cx="329184" cy="0"/>
          </a:xfrm>
          <a:prstGeom prst="line">
            <a:avLst/>
          </a:prstGeom>
          <a:ln w="25400">
            <a:solidFill>
              <a:srgbClr val="006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41280" y="566928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Semaphore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INTRODUCTION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675120" cy="45720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800"/>
              </a:spcAft>
              <a:buChar char="•"/>
            </a:pPr>
            <a:r>
              <a:rPr sz="1900" b="1" i="0">
                <a:solidFill>
                  <a:srgbClr val="1F487C"/>
                </a:solidFill>
                <a:latin typeface="Arial"/>
              </a:rPr>
              <a:t>Smart Parking Management System</a:t>
            </a:r>
            <a:r>
              <a:rPr sz="1900" b="0" i="0">
                <a:solidFill>
                  <a:srgbClr val="1A1A1A"/>
                </a:solidFill>
                <a:latin typeface="Arial"/>
              </a:rPr>
              <a:t> is an interactive, web-based parking simulation.</a:t>
            </a:r>
          </a:p>
          <a:p>
            <a:pPr marL="228600" indent="-228600" algn="l">
              <a:spcAft>
                <a:spcPts val="18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It teaches Operating Systems concepts through a relatable example: vehicles act as processes, parking slots act as shared resources.</a:t>
            </a:r>
          </a:p>
          <a:p>
            <a:pPr marL="228600" indent="-228600" algn="l">
              <a:spcAft>
                <a:spcPts val="18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One dashboard demonstrates process management, CPU scheduling, resource allocation, concurrency, synchronization and deadlock.</a:t>
            </a:r>
          </a:p>
          <a:p>
            <a:pPr marL="228600" indent="-228600" algn="l">
              <a:spcAft>
                <a:spcPts val="18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Built with a Python HTTP server and a browser dashboard.</a:t>
            </a:r>
          </a:p>
          <a:p>
            <a:pPr marL="228600" indent="-228600" algn="l">
              <a:spcAft>
                <a:spcPts val="18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Covers Unit 2 and Unit 3 of Operating Systems (CCSE0303A).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402336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487C"/>
                </a:solidFill>
                <a:latin typeface="Arial"/>
              </a:rPr>
              <a:t>Concepts demonstrated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828800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Process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450592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CPU scheduling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072384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Resource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694176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Concurrency &amp; synchronization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315968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Deadlock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5074920"/>
            <a:ext cx="4023360" cy="7315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5875">
            <a:solidFill>
              <a:srgbClr val="806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SDG 11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— Sustainable Cities and Communities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PARKING ANALOGY → OS CONCEPTS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80160" y="1280160"/>
          <a:ext cx="9601200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Parking system</a:t>
                      </a:r>
                    </a:p>
                  </a:txBody>
                  <a:tcPr marT="27432" marB="27432"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Operating Systems concept</a:t>
                      </a:r>
                    </a:p>
                  </a:txBody>
                  <a:tcPr marT="27432" marB="27432" anchor="ctr"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Vehicle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Process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Parking slot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Shared resource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Parking ticket and vehicle record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Process Control Block (PCB)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Waiting vehicles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Ready queue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Vehicle occupying a slot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Running process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Vehicle waiting for a free slot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Waiting (blocked) process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Gate barrier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Critical-section boundary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Slot allocation lock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Mutex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Available-slot counter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Counting semaphore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Assigning vehicles to slots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CPU scheduling and resource allocation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0160" y="5897880"/>
            <a:ext cx="96012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The analogy models OS behaviour conceptually; it does not represent CPU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PROBLEM 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937759" cy="374903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OS concepts such as scheduling, synchronization and deadlock are abstract when learned from theory alone.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Textbook diagrams are static: queues, waiting and conflicts are hard to see unfolding.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Race conditions and deadlock are difficult to reproduce and observe by hand.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566160"/>
            <a:ext cx="640080" cy="0"/>
          </a:xfrm>
          <a:prstGeom prst="line">
            <a:avLst/>
          </a:prstGeom>
          <a:ln w="4445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92240" y="137160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Our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920240"/>
            <a:ext cx="4937759" cy="374903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Map every concept to a familiar parking scenario.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Make state changes visible through interactive simulations.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Show outcomes step by step with queues, Gantt charts and matrices.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OBJECTIVES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2432304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Demonstrate process management and process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194560"/>
            <a:ext cx="2432304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Visualize and compare CPU scheduling algorithms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55080" y="1600200"/>
            <a:ext cx="457200" cy="45720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194560"/>
            <a:ext cx="2432304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Explain scheduling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89720" y="1600200"/>
            <a:ext cx="457200" cy="45720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194560"/>
            <a:ext cx="2432304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Demonstrate concurrency and synchronization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3749039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03120" y="3886200"/>
            <a:ext cx="457200" cy="45720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4480559"/>
            <a:ext cx="2432304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Simulate safe resource allocation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3749039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937760" y="3886200"/>
            <a:ext cx="457200" cy="45720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4480559"/>
            <a:ext cx="2432304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Visualize deadlock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749039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0" y="3886200"/>
            <a:ext cx="457200" cy="45720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7" y="4480559"/>
            <a:ext cx="2432304" cy="12344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Demonstrate classical synchronization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PROPOSED SYSTEM — WORKFLOW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" y="1481328"/>
            <a:ext cx="384048" cy="384048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463040"/>
            <a:ext cx="178308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Vehicle enters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084832"/>
            <a:ext cx="2157984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New arrival in the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37160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38728" y="1481328"/>
            <a:ext cx="384048" cy="384048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463040"/>
            <a:ext cx="178308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Process record created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084832"/>
            <a:ext cx="2157984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PCB: ticket + vehicle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37160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64808" y="1481328"/>
            <a:ext cx="384048" cy="384048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463040"/>
            <a:ext cx="178308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Enters a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084832"/>
            <a:ext cx="2157984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Appropriate queue chosen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37160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90888" y="1481328"/>
            <a:ext cx="384048" cy="384048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463040"/>
            <a:ext cx="178308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Scheduler selects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084832"/>
            <a:ext cx="2157984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Chosen scheduling algorithm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338328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90888" y="3493008"/>
            <a:ext cx="384048" cy="384048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474720"/>
            <a:ext cx="178308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Slot allocated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4096512"/>
            <a:ext cx="2157984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Suitable parking slot assigned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38328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64808" y="3493008"/>
            <a:ext cx="384048" cy="384048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474720"/>
            <a:ext cx="178308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Active for 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096512"/>
            <a:ext cx="2157984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Simulated running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383280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38728" y="3493008"/>
            <a:ext cx="384048" cy="384048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474720"/>
            <a:ext cx="178308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Process terminates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4096512"/>
            <a:ext cx="2157984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Slot becomes available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07792" y="2075688"/>
            <a:ext cx="49377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33872" y="2075688"/>
            <a:ext cx="49377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59952" y="2075688"/>
            <a:ext cx="49377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469880" y="2816351"/>
            <a:ext cx="0" cy="539497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759952" y="4087368"/>
            <a:ext cx="49377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833872" y="4087368"/>
            <a:ext cx="49377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" y="3291840"/>
            <a:ext cx="2697480" cy="16002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06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When a slot is released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available-slot counter increases and waiting vehicles can be scheduled.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12064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Lifecycle: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arrival → queue → scheduling → allocation → execution → termination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SYSTEM 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Browser-based frontend  </a:t>
            </a:r>
            <a:r>
              <a:rPr sz="1600" b="0" i="0">
                <a:solidFill>
                  <a:srgbClr val="FFFFFF"/>
                </a:solidFill>
                <a:latin typeface="Arial"/>
              </a:rPr>
              <a:t>—  HTML · CSS · JavaScript dashboard · Three.js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176272"/>
            <a:ext cx="0" cy="402336"/>
          </a:xfrm>
          <a:prstGeom prst="line">
            <a:avLst/>
          </a:prstGeom>
          <a:ln w="31750">
            <a:solidFill>
              <a:srgbClr val="1F487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194560"/>
            <a:ext cx="320040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requests /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40"/>
            <a:ext cx="11274552" cy="868680"/>
          </a:xfrm>
          <a:prstGeom prst="roundRect">
            <a:avLst>
              <a:gd name="adj" fmla="val 8000"/>
            </a:avLst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Python HTTP server  </a:t>
            </a:r>
            <a:r>
              <a:rPr sz="1600" b="0" i="0">
                <a:solidFill>
                  <a:srgbClr val="FFFFFF"/>
                </a:solidFill>
                <a:latin typeface="Arial"/>
              </a:rPr>
              <a:t>—  serves the dashboard and exposes API endpoints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3502152"/>
            <a:ext cx="0" cy="338328"/>
          </a:xfrm>
          <a:prstGeom prst="line">
            <a:avLst/>
          </a:prstGeom>
          <a:ln w="31750">
            <a:solidFill>
              <a:srgbClr val="1F487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858768"/>
            <a:ext cx="11274552" cy="2331720"/>
          </a:xfrm>
          <a:prstGeom prst="roundRect">
            <a:avLst>
              <a:gd name="adj" fmla="val 3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04487"/>
            <a:ext cx="548640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Simulation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2331720" cy="169164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5875">
            <a:solidFill>
              <a:srgbClr val="1F4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Data models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Process model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Parking-slot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3434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CPU scheduling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1808" y="43434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Concurrency &amp; synchronization module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43434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Banker's Algorithm &amp; deadlock 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56064" y="43434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Classical synchronization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TECHNOLOGIES USED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51760" cy="77724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468880" cy="9144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Simulation logic and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651760" cy="777240"/>
          </a:xfrm>
          <a:prstGeom prst="rect">
            <a:avLst/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468880" cy="9144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Dashboard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51760" cy="77724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377440"/>
            <a:ext cx="2468880" cy="9144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Dashboard styling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463040"/>
            <a:ext cx="2651760" cy="777240"/>
          </a:xfrm>
          <a:prstGeom prst="rect">
            <a:avLst/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77440"/>
            <a:ext cx="2468880" cy="9144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Dashboard interactivity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365760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65960" y="3657600"/>
            <a:ext cx="2651760" cy="77724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Three.js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572000"/>
            <a:ext cx="2468880" cy="9144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Graphical visualization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365760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0600" y="3657600"/>
            <a:ext cx="2651760" cy="777240"/>
          </a:xfrm>
          <a:prstGeom prst="rect">
            <a:avLst/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Python HTTP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572000"/>
            <a:ext cx="2468880" cy="9144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Serves dashboard and APIs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65760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3657600"/>
            <a:ext cx="2651760" cy="77724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Python threading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572000"/>
            <a:ext cx="2468880" cy="9144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Locks, semaphores and other sync primitives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PROCESS MANAGEMENT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New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Vehicle arrives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Ready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In the ready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Running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Occupying a slot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3716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Terminated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Slot released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01752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Waiting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No slot available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3512" y="1892807"/>
            <a:ext cx="44805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33872" y="1892807"/>
            <a:ext cx="44805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14232" y="1892807"/>
            <a:ext cx="44805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766560" y="2450592"/>
            <a:ext cx="548640" cy="54864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663440" y="2450592"/>
            <a:ext cx="731520" cy="54864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23760" y="2743200"/>
            <a:ext cx="201168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must 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743200"/>
            <a:ext cx="201168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slot freed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5394960" cy="178308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43400"/>
            <a:ext cx="5394960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Process Control Block (PCB)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5212080" cy="11430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Parking ticket + vehicle record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Holds the process identity, state and scheduling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4343400"/>
            <a:ext cx="5394960" cy="178308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4343400"/>
            <a:ext cx="5394960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Queues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892040"/>
            <a:ext cx="5212080" cy="11430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3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Ready queue — waiting vehicles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Waiting queue — blocked on a slot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Terminated — vehicles that have left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CPU SCHEDULING ALGORITHMS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1127455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Algorithm</a:t>
                      </a:r>
                    </a:p>
                  </a:txBody>
                  <a:tcPr marT="27432" marB="27432"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Working principle</a:t>
                      </a:r>
                    </a:p>
                  </a:txBody>
                  <a:tcPr marT="27432" marB="27432"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In the parking simulation</a:t>
                      </a:r>
                    </a:p>
                  </a:txBody>
                  <a:tcPr marT="27432" marB="27432" anchor="ctr"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First-Come, First-Served (FCFS)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Runs processes in arrival order; non-preemptive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First vehicle in line gets the slot first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Shortest Job First (SJF)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Picks the shortest burst time next; non-preemptive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Shortest-stay vehicle is served first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Shortest Remaining Time First (SRTF)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Preemptive SJF: least remaining time runs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A new short-stay arrival can take over the turn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Priority (Non-Preemptive)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Highest priority is chosen; runs to completion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High-priority vehicle goes next, never interrupts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Priority (Preemptive)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A higher-priority arrival preempts the running process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High-priority vehicle can interrupt the current one</a:t>
                      </a:r>
                    </a:p>
                  </a:txBody>
                  <a:tcPr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Round Robin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Fixed time quantum on a circular ready queue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Each vehicle gets a time slice, then rejoins the queue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METRICS AND GANTT CHART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394960" cy="489204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Metrics and formulas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212080" cy="425195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Turnaround Time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= Completion − Arrival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Waiting Time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= Turnaround − Burst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Response Time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= First Start − Arrival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CPU Utilization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= busy time ÷ total time × 100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Throughput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= processes completed ÷ total time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Averages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(waiting, turnaround, response) = sum over all processes ÷ number of processes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Gantt chart: execution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605272" cy="4434840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2240280"/>
            <a:ext cx="914400" cy="914400"/>
          </a:xfrm>
          <a:prstGeom prst="rect">
            <a:avLst/>
          </a:prstGeom>
          <a:solidFill>
            <a:srgbClr val="006F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240280"/>
            <a:ext cx="731520" cy="914400"/>
          </a:xfrm>
          <a:prstGeom prst="rect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240280"/>
            <a:ext cx="1097280" cy="914400"/>
          </a:xfrm>
          <a:prstGeom prst="rect">
            <a:avLst/>
          </a:prstGeom>
          <a:solidFill>
            <a:srgbClr val="8063A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240280"/>
            <a:ext cx="822960" cy="914400"/>
          </a:xfrm>
          <a:prstGeom prst="rect">
            <a:avLst/>
          </a:prstGeom>
          <a:solidFill>
            <a:srgbClr val="006F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2240280"/>
            <a:ext cx="1005840" cy="914400"/>
          </a:xfrm>
          <a:prstGeom prst="rect">
            <a:avLst/>
          </a:prstGeom>
          <a:solidFill>
            <a:srgbClr val="1F487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55080" y="3337560"/>
            <a:ext cx="48463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21240" y="3383280"/>
            <a:ext cx="13716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time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31920"/>
            <a:ext cx="5257800" cy="1463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7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Each block is one process’s turn on the CPU, in order.</a:t>
            </a:r>
          </a:p>
          <a:p>
            <a:pPr marL="228600" indent="-228600" algn="l">
              <a:spcAft>
                <a:spcPts val="7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Block width represents time; gaps show idle time.</a:t>
            </a:r>
          </a:p>
          <a:p>
            <a:pPr marL="228600" indent="-228600" algn="l">
              <a:spcAft>
                <a:spcPts val="7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Metrics are computed from these turns.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486400"/>
            <a:ext cx="5257800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00000"/>
                </a:solidFill>
                <a:latin typeface="Arial"/>
              </a:rPr>
              <a:t>Illustrative layout only — shows how the chart is read; not measured project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CONCURRENCY AND SYNCHRONIZATION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212080" cy="4937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Critical section: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code that touches a shared slot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Race condition: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result depends on timing of simultaneous access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Mutex lock: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one allocator inside the critical section at a time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Peterson's Algorithm: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software mutual exclusion for two processes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Test-and-Set lock: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atomic test-and-set operation guards entry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Counting semaphore: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counts the available slots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280160"/>
            <a:ext cx="5879592" cy="2331720"/>
          </a:xfrm>
          <a:prstGeom prst="roundRect">
            <a:avLst>
              <a:gd name="adj" fmla="val 3000"/>
            </a:avLst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1325880"/>
            <a:ext cx="566928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Without synchronization — race condition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7830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Car A reads: Slot 5 is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154680"/>
            <a:ext cx="9144" cy="914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6679" y="17830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Car B reads: Slot 5 is free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4312" y="2468880"/>
            <a:ext cx="292608" cy="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Both assigned Slot 5 — conflict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840480"/>
            <a:ext cx="5879592" cy="2331720"/>
          </a:xfrm>
          <a:prstGeom prst="roundRect">
            <a:avLst>
              <a:gd name="adj" fmla="val 3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566928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With mutex + semaphore — safe allocation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43434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Car A locks, takes Slot 5, unlocks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99248" y="5029200"/>
            <a:ext cx="192024" cy="0"/>
          </a:xfrm>
          <a:prstGeom prst="line">
            <a:avLst/>
          </a:prstGeom>
          <a:ln w="25400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43434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Car B waits for the lock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19488" y="5029200"/>
            <a:ext cx="192024" cy="0"/>
          </a:xfrm>
          <a:prstGeom prst="line">
            <a:avLst/>
          </a:prstGeom>
          <a:ln w="25400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43434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Car B locks, gets another free slot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BANKER'S ALGORITHM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394960" cy="333756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212080" cy="2697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Available: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free resource units</a:t>
            </a:r>
          </a:p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Allocation: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units each process holds</a:t>
            </a:r>
          </a:p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Maximum: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most each process may request</a:t>
            </a:r>
          </a:p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Need = Maximum − Allocation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5394960" cy="14173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5394960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5212080" cy="7772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300"/>
              </a:spcAft>
              <a:buChar char="•"/>
            </a:pPr>
            <a:r>
              <a:rPr sz="1400" b="1" i="0">
                <a:solidFill>
                  <a:srgbClr val="2E7D32"/>
                </a:solidFill>
                <a:latin typeface="Arial"/>
              </a:rPr>
              <a:t>Safe: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a safe sequence exists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400" b="1" i="0">
                <a:solidFill>
                  <a:srgbClr val="C00000"/>
                </a:solidFill>
                <a:latin typeface="Arial"/>
              </a:rPr>
              <a:t>Unsafe: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no safe sequence; deadlock possible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5605272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How a request is evaluated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74519"/>
            <a:ext cx="5605272" cy="54864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Request ≤ Need?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33688" y="2441448"/>
            <a:ext cx="0" cy="164591"/>
          </a:xfrm>
          <a:prstGeom prst="line">
            <a:avLst/>
          </a:prstGeom>
          <a:ln w="22225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80" y="2624327"/>
            <a:ext cx="5605272" cy="54864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Request ≤ Available?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33688" y="3191256"/>
            <a:ext cx="0" cy="164592"/>
          </a:xfrm>
          <a:prstGeom prst="line">
            <a:avLst/>
          </a:prstGeom>
          <a:ln w="22225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26480" y="3374135"/>
            <a:ext cx="5605272" cy="54864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Pretend to allocate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3688" y="3941063"/>
            <a:ext cx="0" cy="164592"/>
          </a:xfrm>
          <a:prstGeom prst="line">
            <a:avLst/>
          </a:prstGeom>
          <a:ln w="22225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26480" y="4123944"/>
            <a:ext cx="5605272" cy="54864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Run safety check: safe sequence found?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33688" y="4690872"/>
            <a:ext cx="0" cy="164592"/>
          </a:xfrm>
          <a:prstGeom prst="line">
            <a:avLst/>
          </a:prstGeom>
          <a:ln w="22225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26480" y="489204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Yes → grant 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489204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No → deny / wait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623560"/>
            <a:ext cx="5605272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Parking view: slots are resource units; vehicles request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DEADLOCK AND RAG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Resource Allocation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5394960" cy="4434840"/>
          </a:xfrm>
          <a:prstGeom prst="roundRect">
            <a:avLst>
              <a:gd name="adj" fmla="val 2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006FC0"/>
          </a:solidFill>
          <a:ln w="15875">
            <a:solidFill>
              <a:srgbClr val="1F4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194560"/>
            <a:ext cx="914400" cy="914400"/>
          </a:xfrm>
          <a:prstGeom prst="rect">
            <a:avLst/>
          </a:prstGeom>
          <a:solidFill>
            <a:srgbClr val="DCE6F1"/>
          </a:solidFill>
          <a:ln w="15875">
            <a:solidFill>
              <a:srgbClr val="1F4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487C"/>
                </a:solidFill>
                <a:latin typeface="Arial"/>
              </a:rPr>
              <a:t>R1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4206240"/>
            <a:ext cx="914400" cy="914400"/>
          </a:xfrm>
          <a:prstGeom prst="ellipse">
            <a:avLst/>
          </a:prstGeom>
          <a:solidFill>
            <a:srgbClr val="006FC0"/>
          </a:solidFill>
          <a:ln w="15875">
            <a:solidFill>
              <a:srgbClr val="1F4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206240"/>
            <a:ext cx="914400" cy="914400"/>
          </a:xfrm>
          <a:prstGeom prst="rect">
            <a:avLst/>
          </a:prstGeom>
          <a:solidFill>
            <a:srgbClr val="DCE6F1"/>
          </a:solidFill>
          <a:ln w="15875">
            <a:solidFill>
              <a:srgbClr val="1F4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487C"/>
                </a:solidFill>
                <a:latin typeface="Arial"/>
              </a:rPr>
              <a:t>R2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2651760"/>
            <a:ext cx="1920240" cy="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89120" y="3154680"/>
            <a:ext cx="0" cy="100584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965960" y="4663440"/>
            <a:ext cx="1920240" cy="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63040" y="3154680"/>
            <a:ext cx="0" cy="100584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48840" y="2240280"/>
            <a:ext cx="16459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709160"/>
            <a:ext cx="16459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474720"/>
            <a:ext cx="128016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assigned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74720"/>
            <a:ext cx="91440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assigned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5029200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00000"/>
                </a:solidFill>
                <a:latin typeface="Arial"/>
              </a:rPr>
              <a:t>A cycle in the graph signals deadlock (single-instance resources). Cycle detection finds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280160"/>
            <a:ext cx="5605272" cy="489204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280160"/>
            <a:ext cx="5605272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Four Coffman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28800"/>
            <a:ext cx="5422392" cy="425195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Mutual exclusion: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 slot serves one vehicle at a time</a:t>
            </a:r>
          </a:p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Hold and wait: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 vehicle holds one resource while waiting for another</a:t>
            </a:r>
          </a:p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No preemption: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 held resource cannot be forcibly taken</a:t>
            </a:r>
          </a:p>
          <a:p>
            <a:pPr marL="228600" indent="-228600" algn="l">
              <a:spcAft>
                <a:spcPts val="1400"/>
              </a:spcAft>
              <a:buChar char="•"/>
            </a:pPr>
            <a:r>
              <a:rPr sz="1800" b="1" i="0">
                <a:solidFill>
                  <a:srgbClr val="1F487C"/>
                </a:solidFill>
                <a:latin typeface="Arial"/>
              </a:rPr>
              <a:t>Circular wait: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 closed chain of vehicles each waits on the next</a:t>
            </a:r>
          </a:p>
          <a:p>
            <a:pPr marL="228600" indent="-228600" algn="l">
              <a:spcAft>
                <a:spcPts val="14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All four must hold together for deadlock to occur.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CLASSICAL SYNCHRONIZATION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541264" cy="23317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41264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Producer–Consumer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920239"/>
            <a:ext cx="1463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Entry camera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12263" y="2377439"/>
            <a:ext cx="35661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96311" y="1920239"/>
            <a:ext cx="1463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Waiting queue (bounded)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86783" y="2377439"/>
            <a:ext cx="35661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0831" y="1920239"/>
            <a:ext cx="1463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Slot allocator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5266944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producer → buffer → consumer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280160"/>
            <a:ext cx="5541264" cy="23317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1280160"/>
            <a:ext cx="5541264" cy="457200"/>
          </a:xfrm>
          <a:prstGeom prst="rect">
            <a:avLst/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Reader–Writer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1920239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Availability signboards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82811" y="2377439"/>
            <a:ext cx="356617" cy="0"/>
          </a:xfrm>
          <a:prstGeom prst="line">
            <a:avLst/>
          </a:prstGeom>
          <a:ln w="25400">
            <a:solidFill>
              <a:srgbClr val="1F487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66859" y="1920239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Parking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971800"/>
            <a:ext cx="5266944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readers share access; the writer updates exclusively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94760"/>
            <a:ext cx="5541264" cy="23317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5541264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Sleeping Barber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3484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Waiting chairs (limited)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49523" y="4892040"/>
            <a:ext cx="356616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433572" y="443484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Smart gatekeeper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486400"/>
            <a:ext cx="5266944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gatekeeper serves one vehicle at a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794760"/>
            <a:ext cx="5541264" cy="23317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0488" y="3794760"/>
            <a:ext cx="5541264" cy="457200"/>
          </a:xfrm>
          <a:prstGeom prst="rect">
            <a:avLst/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Dining Philosophers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79" y="443484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Vehicles at a roundabout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82811" y="4892040"/>
            <a:ext cx="356617" cy="0"/>
          </a:xfrm>
          <a:prstGeom prst="line">
            <a:avLst/>
          </a:prstGeom>
          <a:ln w="254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166859" y="4434840"/>
            <a:ext cx="24003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487C"/>
                </a:solidFill>
                <a:latin typeface="Arial"/>
              </a:rPr>
              <a:t>Shared road segments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486400"/>
            <a:ext cx="5266944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circular waiting is a deadlock scenario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DASHBOARD AND IMPLEMENTATION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1792" y="1536192"/>
            <a:ext cx="502920" cy="50292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27432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Parking Yard and PCB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246120" cy="7315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Slot simulation, process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16552" y="1536192"/>
            <a:ext cx="502920" cy="50292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508760"/>
            <a:ext cx="27432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CPU Scheduling and Gantt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68880"/>
            <a:ext cx="3246120" cy="7315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Six algorithms and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11312" y="1536192"/>
            <a:ext cx="502920" cy="50292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508760"/>
            <a:ext cx="27432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Concurrency and Critical Section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246120" cy="7315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Race-condition and sync demos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1792" y="3730752"/>
            <a:ext cx="502920" cy="50292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703320"/>
            <a:ext cx="27432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Banker's Algorithm and Deadlock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3246120" cy="7315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Safe state, deadlock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56616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16552" y="3730752"/>
            <a:ext cx="502920" cy="50292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03320"/>
            <a:ext cx="27432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Classical Synchronization Problems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663440"/>
            <a:ext cx="3246120" cy="7315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Four problem simulations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56616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730752"/>
            <a:ext cx="502920" cy="50292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703320"/>
            <a:ext cx="27432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Academic Report and Syllabus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63440"/>
            <a:ext cx="3246120" cy="7315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Report and syllabus 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Module overview diagram — not application screenshots.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RESULTS AND DEMONSTRATION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Implemented capabilities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" y="210312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Interactive parking-slot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92024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0" y="210312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6596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Process queues and process 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83880" y="210312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96596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Six CPU scheduling algorithms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2608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Gantt chart and scheduling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88036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89120" y="306324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2608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Race-condition simulations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88036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83880" y="306324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92608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Synchronization demonstrations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4360" y="402336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88620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Banker's Algorithm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8404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89120" y="402336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88620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Deadlock detection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8404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83880" y="402336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886200"/>
            <a:ext cx="2926080" cy="6858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87C"/>
                </a:solidFill>
                <a:latin typeface="Arial"/>
              </a:rPr>
              <a:t>Classical synchronization simulations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37760"/>
            <a:ext cx="11274552" cy="11887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5875">
            <a:solidFill>
              <a:srgbClr val="806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Implemented functionality vs. measured results: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these capabilities are demonstrated live through the interactive dashboard. No benchmark or performance measurements are claimed.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ADVANTAGES AND APPLICATIONS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489204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Educational advantages (existing)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303520" cy="425195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Real-world analogy makes abstract concepts relatable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Queues, states, Gantt charts and matrices make behaviour visible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Six scheduling algorithms can be compared on one dashboard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Unit 2 and Unit 3 topics are covered in one place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Runs in a web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280160"/>
            <a:ext cx="5486400" cy="489204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806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Potential applications (proposed)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28800"/>
            <a:ext cx="5303520" cy="425195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Classroom and lab teaching aid for OS courses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Self-study and revision tool for students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Extension to further OS topics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Starting point for discussing smart-parking ideas (SDG 11); conceptual, not a deployed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LIMITATIONS AND FUTURE SCOPE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489204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303520" cy="425195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Educational simulation, not a production parking system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parking analogy simplifies real operating-system kernels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No sensor or hardware integration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Scope limited to Unit 2 and Unit 3 topics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No measured performance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280160"/>
            <a:ext cx="5486400" cy="489204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806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Future scope (proposed, not implemented)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28800"/>
            <a:ext cx="5303520" cy="425195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Additional scheduling variants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Extension to other OS units, such as memory management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Feedback from students to evaluate learning impact</a:t>
            </a:r>
          </a:p>
          <a:p>
            <a:pPr marL="228600" indent="-228600" algn="l">
              <a:spcAft>
                <a:spcPts val="1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Export of Gantt charts and metrics as reports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TEAM AND ACKNOWLEDGEMENT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63040"/>
            <a:ext cx="2377440" cy="10972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Samar Singh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Group 7 · CSE (AI)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4840" y="1600200"/>
            <a:ext cx="822960" cy="82296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463040"/>
            <a:ext cx="2377440" cy="10972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Aditi Singh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Group 7 · CSE (AI)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1600200"/>
            <a:ext cx="822960" cy="822960"/>
          </a:xfrm>
          <a:prstGeom prst="ellipse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463040"/>
            <a:ext cx="2377440" cy="10972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Chhavi Attri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Group 7 · CSE (AI)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11274552" cy="82296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87C"/>
                </a:solidFill>
                <a:latin typeface="Arial"/>
              </a:rPr>
              <a:t>Contribution: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presented as a collective team effort by all three members.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39"/>
            <a:ext cx="11274552" cy="219456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15875">
            <a:solidFill>
              <a:srgbClr val="DC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07899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487C"/>
                </a:solidFill>
                <a:latin typeface="Arial"/>
              </a:rPr>
              <a:t>Acknowledgement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10789920" cy="1554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We sincerely thank our faculty mentor, </a:t>
            </a:r>
            <a:r>
              <a:rPr sz="1700" b="1" i="0">
                <a:solidFill>
                  <a:srgbClr val="1F487C"/>
                </a:solidFill>
                <a:latin typeface="Arial"/>
              </a:rPr>
              <a:t>Dr. Varsha Jotwani, Associate Professor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for her guidance and support throughout this Operating Systems PBL.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We also thank NIET Greater Noida and the Department of CSE — Artificial Intelligence for the opportunity.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CONCLUSION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F4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OS theory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76472" y="1828800"/>
            <a:ext cx="585216" cy="0"/>
          </a:xfrm>
          <a:prstGeom prst="line">
            <a:avLst/>
          </a:prstGeom>
          <a:ln w="381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13716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Parking analogy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16952" y="1828800"/>
            <a:ext cx="585215" cy="0"/>
          </a:xfrm>
          <a:prstGeom prst="line">
            <a:avLst/>
          </a:prstGeom>
          <a:ln w="38100">
            <a:solidFill>
              <a:srgbClr val="1F48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13716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Interactive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1064240" cy="33832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2000"/>
              </a:spcAft>
              <a:buChar char="•"/>
            </a:pPr>
            <a:r>
              <a:rPr sz="2100" b="0" i="0">
                <a:solidFill>
                  <a:srgbClr val="1A1A1A"/>
                </a:solidFill>
                <a:latin typeface="Arial"/>
              </a:rPr>
              <a:t>Connects Unit 2 and Unit 3 Operating Systems theory with an interactive parking simulation.</a:t>
            </a:r>
          </a:p>
          <a:p>
            <a:pPr marL="228600" indent="-228600" algn="l">
              <a:spcAft>
                <a:spcPts val="2000"/>
              </a:spcAft>
              <a:buChar char="•"/>
            </a:pPr>
            <a:r>
              <a:rPr sz="2100" b="0" i="0">
                <a:solidFill>
                  <a:srgbClr val="1A1A1A"/>
                </a:solidFill>
                <a:latin typeface="Arial"/>
              </a:rPr>
              <a:t>Covers process management, six CPU scheduling algorithms, synchronization, deadlock and classical problems.</a:t>
            </a:r>
          </a:p>
          <a:p>
            <a:pPr marL="228600" indent="-228600" algn="l">
              <a:spcAft>
                <a:spcPts val="2000"/>
              </a:spcAft>
              <a:buChar char="•"/>
            </a:pPr>
            <a:r>
              <a:rPr sz="2100" b="0" i="0">
                <a:solidFill>
                  <a:srgbClr val="1A1A1A"/>
                </a:solidFill>
                <a:latin typeface="Arial"/>
              </a:rPr>
              <a:t>Makes abstract behaviour visible through queues, Gantt charts and simulations.</a:t>
            </a:r>
          </a:p>
          <a:p>
            <a:pPr marL="228600" indent="-228600" algn="l">
              <a:spcAft>
                <a:spcPts val="2000"/>
              </a:spcAft>
              <a:buChar char="•"/>
            </a:pPr>
            <a:r>
              <a:rPr sz="2100" b="0" i="0">
                <a:solidFill>
                  <a:srgbClr val="1A1A1A"/>
                </a:solidFill>
                <a:latin typeface="Arial"/>
              </a:rPr>
              <a:t>An educational prototype: results are demonstrations, not benchmarks.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28016"/>
            <a:ext cx="7680960" cy="960120"/>
          </a:xfrm>
        </p:spPr>
        <p:txBody>
          <a:bodyPr wrap="square" anchor="ctr"/>
          <a:lstStyle/>
          <a:p>
            <a:pPr algn="ctr"/>
            <a:r>
              <a:rPr sz="280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329945" y="253745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252728" cy="566928"/>
          </a:xfrm>
          <a:prstGeom prst="rect">
            <a:avLst/>
          </a:prstGeom>
          <a:noFill/>
        </p:spPr>
        <p:txBody>
          <a:bodyPr wrap="square" lIns="0" tIns="36576" rIns="0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Group 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3840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28600" indent="-228600" algn="l">
              <a:spcAft>
                <a:spcPts val="11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A. Silberschatz, P. B. Galvin, G. Gagne, Operating System Concepts, Wiley.</a:t>
            </a:r>
          </a:p>
          <a:p>
            <a:pPr marL="228600" indent="-228600" algn="l">
              <a:spcAft>
                <a:spcPts val="11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A. S. Tanenbaum, H. Bos, Modern Operating Systems, Pearson.</a:t>
            </a:r>
          </a:p>
          <a:p>
            <a:pPr marL="228600" indent="-228600" algn="l">
              <a:spcAft>
                <a:spcPts val="11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E. G. Coffman, M. J. Elphick, A. Shoshani, “System Deadlocks,” ACM Computing Surveys, 3(2), 1971.</a:t>
            </a:r>
          </a:p>
          <a:p>
            <a:pPr marL="228600" indent="-228600" algn="l">
              <a:spcAft>
                <a:spcPts val="11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G. L. Peterson, “Myths About the Mutual Exclusion Problem,” Information Processing Letters, 12(3), 1981.</a:t>
            </a:r>
          </a:p>
          <a:p>
            <a:pPr marL="228600" indent="-228600" algn="l">
              <a:spcAft>
                <a:spcPts val="11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E. W. Dijkstra, “Cooperating Sequential Processes,” 1965 (EWD123).</a:t>
            </a:r>
          </a:p>
          <a:p>
            <a:pPr marL="228600" indent="-228600" algn="l">
              <a:spcAft>
                <a:spcPts val="11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Python documentation (threading) · Three.js documentation · UN Sustainable Development Goal 11.</a:t>
            </a:r>
          </a:p>
          <a:p>
            <a:pPr marL="228600" indent="-228600" algn="l">
              <a:spcAft>
                <a:spcPts val="11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Smart Parking Management System — OS PBL Project Report, Group 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Samar Singh · Aditi Singh · Chhavi Attri  |  Mentor: Dr. Varsha Jotwani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1880</Words>
  <Application>Microsoft Office PowerPoint</Application>
  <PresentationFormat>Widescreen</PresentationFormat>
  <Paragraphs>400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MT</vt:lpstr>
      <vt:lpstr>Calibri</vt:lpstr>
      <vt:lpstr>Times New Roman</vt:lpstr>
      <vt:lpstr>Office Theme</vt:lpstr>
      <vt:lpstr>OPERATING SYSTEMS PBL</vt:lpstr>
      <vt:lpstr>INTRODUCTION</vt:lpstr>
      <vt:lpstr>PARKING ANALOGY → OS CONCEPTS</vt:lpstr>
      <vt:lpstr>PROBLEM STATEMENT</vt:lpstr>
      <vt:lpstr>OBJECTIVES</vt:lpstr>
      <vt:lpstr>PROPOSED SYSTEM — WORKFLOW</vt:lpstr>
      <vt:lpstr>SYSTEM ARCHITECTURE</vt:lpstr>
      <vt:lpstr>TECHNOLOGIES USED</vt:lpstr>
      <vt:lpstr>PROCESS MANAGEMENT</vt:lpstr>
      <vt:lpstr>CPU SCHEDULING ALGORITHMS</vt:lpstr>
      <vt:lpstr>METRICS AND GANTT CHART</vt:lpstr>
      <vt:lpstr>CONCURRENCY AND SYNCHRONIZATION</vt:lpstr>
      <vt:lpstr>BANKER'S ALGORITHM</vt:lpstr>
      <vt:lpstr>DEADLOCK AND RAG</vt:lpstr>
      <vt:lpstr>CLASSICAL SYNCHRONIZATION</vt:lpstr>
      <vt:lpstr>DASHBOARD AND IMPLEMENTATION</vt:lpstr>
      <vt:lpstr>RESULTS AND DEMONSTRATION</vt:lpstr>
      <vt:lpstr>ADVANTAGES AND APPLICATIONS</vt:lpstr>
      <vt:lpstr>LIMITATIONS AND FUTURE SCOPE</vt:lpstr>
      <vt:lpstr>TEAM AND ACKNOWLEDGEMENT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Management System — OS PBL</dc:title>
  <dc:creator>Group 7, NIET Greater Noida</dc:creator>
  <cp:lastModifiedBy>SAMAR SINGH</cp:lastModifiedBy>
  <cp:revision>5</cp:revision>
  <dcterms:created xsi:type="dcterms:W3CDTF">2026-03-12T05:00:15Z</dcterms:created>
  <dcterms:modified xsi:type="dcterms:W3CDTF">2026-10-27T06:17:01Z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2026-03-12T00:00:00Z</vt:filetime>
  </property>
  <property fmtid="{D5CDD505-2E9C-101B-9397-08002B2CF9AE}" pid="5" name="Producer">
    <vt:lpwstr>Microsoft® PowerPoint® 2013</vt:lpwstr>
  </property>
</Properties>
</file>